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7" r:id="rId4"/>
    <p:sldId id="267" r:id="rId5"/>
    <p:sldId id="261" r:id="rId6"/>
    <p:sldId id="264" r:id="rId7"/>
    <p:sldId id="268" r:id="rId8"/>
    <p:sldId id="269" r:id="rId9"/>
    <p:sldId id="262" r:id="rId10"/>
    <p:sldId id="271" r:id="rId11"/>
    <p:sldId id="259" r:id="rId12"/>
    <p:sldId id="272" r:id="rId13"/>
    <p:sldId id="263" r:id="rId14"/>
    <p:sldId id="260" r:id="rId15"/>
    <p:sldId id="266" r:id="rId16"/>
    <p:sldId id="265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25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99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4047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408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0001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7393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6843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464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8168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73152" cy="50794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7432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CHECKPOINT 2 SUNUMU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RE-Smart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4B8A6"/>
                </a:solidFill>
              </a:rPr>
              <a:t>RAG Tabanlı SRS Analiz Motoru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32004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468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94A3B8"/>
                </a:solidFill>
              </a:rPr>
              <a:t>ISO </a:t>
            </a:r>
            <a:r>
              <a:rPr lang="en-US" sz="1200" dirty="0">
                <a:solidFill>
                  <a:srgbClr val="94A3B8"/>
                </a:solidFill>
              </a:rPr>
              <a:t>• LangChain • Groq Llama-3.3 • Qdrant Cloud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F4F8"/>
                </a:solidFill>
              </a:rPr>
              <a:t>Yazılım </a:t>
            </a:r>
            <a:r>
              <a:rPr lang="en-US" sz="1300" b="1" dirty="0" err="1">
                <a:solidFill>
                  <a:srgbClr val="E8F4F8"/>
                </a:solidFill>
              </a:rPr>
              <a:t>Mühendisliği</a:t>
            </a:r>
            <a:r>
              <a:rPr lang="en-US" sz="1300" b="1" dirty="0">
                <a:solidFill>
                  <a:srgbClr val="E8F4F8"/>
                </a:solidFill>
              </a:rPr>
              <a:t> </a:t>
            </a:r>
            <a:r>
              <a:rPr lang="en-US" sz="1300" dirty="0" smtClean="0">
                <a:solidFill>
                  <a:srgbClr val="94A3B8"/>
                </a:solidFill>
              </a:rPr>
              <a:t> </a:t>
            </a:r>
            <a:r>
              <a:rPr lang="en-US" sz="1300" b="1" dirty="0">
                <a:solidFill>
                  <a:srgbClr val="14B8A6"/>
                </a:solidFill>
              </a:rPr>
              <a:t>| Sprint 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03520" y="457200"/>
            <a:ext cx="3657600" cy="4389120"/>
          </a:xfrm>
          <a:prstGeom prst="rect">
            <a:avLst/>
          </a:prstGeom>
          <a:solidFill>
            <a:srgbClr val="1A2E4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27"/>
          <p:cNvSpPr/>
          <p:nvPr/>
        </p:nvSpPr>
        <p:spPr>
          <a:xfrm>
            <a:off x="2394712" y="1090422"/>
            <a:ext cx="457200" cy="45720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40992" y="1025144"/>
            <a:ext cx="1664208" cy="3520440"/>
          </a:xfrm>
          <a:prstGeom prst="rect">
            <a:avLst/>
          </a:prstGeom>
          <a:solidFill>
            <a:srgbClr val="1A2E44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8" name="Shape 25"/>
          <p:cNvSpPr/>
          <p:nvPr/>
        </p:nvSpPr>
        <p:spPr>
          <a:xfrm>
            <a:off x="3538728" y="1005840"/>
            <a:ext cx="1664208" cy="3510280"/>
          </a:xfrm>
          <a:prstGeom prst="rect">
            <a:avLst/>
          </a:prstGeom>
          <a:solidFill>
            <a:srgbClr val="1A2E44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Sprint Yol Haritası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1664208" cy="3520440"/>
          </a:xfrm>
          <a:prstGeom prst="rect">
            <a:avLst/>
          </a:prstGeom>
          <a:solidFill>
            <a:srgbClr val="0D30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" y="1005840"/>
            <a:ext cx="166420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12471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FFFFFF"/>
                </a:solidFill>
              </a:rPr>
              <a:t>1</a:t>
            </a:r>
            <a:r>
              <a:rPr lang="tr-TR" sz="1600" b="1" dirty="0" smtClean="0">
                <a:solidFill>
                  <a:srgbClr val="FFFFFF"/>
                </a:solidFill>
              </a:rPr>
              <a:t>-2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0312" y="1664208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Teknik İskelet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" y="226771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▸  </a:t>
            </a:r>
            <a:r>
              <a:rPr lang="en-US" sz="1000" dirty="0">
                <a:solidFill>
                  <a:srgbClr val="E8F4F8"/>
                </a:solidFill>
              </a:rPr>
              <a:t>PDF→metin (PyMuPDF)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" y="2761488"/>
            <a:ext cx="14813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▸  </a:t>
            </a:r>
            <a:r>
              <a:rPr lang="en-US" sz="1000" dirty="0">
                <a:solidFill>
                  <a:srgbClr val="E8F4F8"/>
                </a:solidFill>
              </a:rPr>
              <a:t>Regex </a:t>
            </a:r>
            <a:r>
              <a:rPr lang="en-US" sz="1000" dirty="0" err="1" smtClean="0">
                <a:solidFill>
                  <a:srgbClr val="E8F4F8"/>
                </a:solidFill>
              </a:rPr>
              <a:t>parçalama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" y="3511296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bg1"/>
                </a:solidFill>
              </a:rPr>
              <a:t>▸  </a:t>
            </a:r>
            <a:r>
              <a:rPr lang="en-US" sz="1000" dirty="0" err="1">
                <a:solidFill>
                  <a:schemeClr val="bg1"/>
                </a:solidFill>
              </a:rPr>
              <a:t>GitHub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smtClean="0">
                <a:solidFill>
                  <a:schemeClr val="bg1"/>
                </a:solidFill>
              </a:rPr>
              <a:t>&amp;</a:t>
            </a:r>
            <a:r>
              <a:rPr lang="tr-TR" sz="1000" dirty="0" smtClean="0">
                <a:solidFill>
                  <a:schemeClr val="bg1"/>
                </a:solidFill>
              </a:rPr>
              <a:t> requirements.txt &amp;</a:t>
            </a:r>
            <a:r>
              <a:rPr lang="en-US" sz="1000" dirty="0" smtClean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</a:rPr>
              <a:t>venv kurulumu</a:t>
            </a:r>
          </a:p>
        </p:txBody>
      </p:sp>
      <p:sp>
        <p:nvSpPr>
          <p:cNvPr id="15" name="Shape 13"/>
          <p:cNvSpPr/>
          <p:nvPr/>
        </p:nvSpPr>
        <p:spPr>
          <a:xfrm>
            <a:off x="320040" y="4142232"/>
            <a:ext cx="1298448" cy="292608"/>
          </a:xfrm>
          <a:prstGeom prst="roundRect">
            <a:avLst>
              <a:gd name="adj" fmla="val 1562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14223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TAMAMLANDI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11096" y="1664208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Akıllı </a:t>
            </a:r>
            <a:r>
              <a:rPr lang="en-US" sz="1100" b="1" dirty="0" err="1">
                <a:solidFill>
                  <a:schemeClr val="bg1"/>
                </a:solidFill>
              </a:rPr>
              <a:t>Hafıza</a:t>
            </a:r>
            <a:r>
              <a:rPr lang="en-US" sz="1100" b="1" dirty="0">
                <a:solidFill>
                  <a:schemeClr val="bg1"/>
                </a:solidFill>
              </a:rPr>
              <a:t> 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222504" y="1911604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▸  </a:t>
            </a:r>
            <a:r>
              <a:rPr lang="en-US" sz="1000" dirty="0">
                <a:solidFill>
                  <a:srgbClr val="E8F4F8"/>
                </a:solidFill>
              </a:rPr>
              <a:t>92 chunk Qdrant'a yüklendi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29384" y="2747772"/>
            <a:ext cx="148132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bg1"/>
                </a:solidFill>
              </a:rPr>
              <a:t>▸</a:t>
            </a:r>
            <a:r>
              <a:rPr lang="en-US" sz="1000" b="1" dirty="0" smtClean="0">
                <a:solidFill>
                  <a:srgbClr val="0D9488"/>
                </a:solidFill>
              </a:rPr>
              <a:t>  </a:t>
            </a:r>
            <a:r>
              <a:rPr lang="en-US" sz="1000" dirty="0">
                <a:solidFill>
                  <a:srgbClr val="E8F4F8"/>
                </a:solidFill>
              </a:rPr>
              <a:t>Hybrid Search (BM25+dense)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29384" y="3511296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bg1"/>
                </a:solidFill>
              </a:rPr>
              <a:t>▸</a:t>
            </a:r>
            <a:r>
              <a:rPr lang="en-US" sz="1000" b="1" dirty="0" smtClean="0">
                <a:solidFill>
                  <a:srgbClr val="0D9488"/>
                </a:solidFill>
              </a:rPr>
              <a:t> </a:t>
            </a:r>
            <a:r>
              <a:rPr lang="en-US" sz="1000" dirty="0">
                <a:solidFill>
                  <a:srgbClr val="E8F4F8"/>
                </a:solidFill>
              </a:rPr>
              <a:t>Pydantic/JSON çıktı formatı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38728" y="1005840"/>
            <a:ext cx="1664208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33088" y="1124712"/>
            <a:ext cx="457200" cy="45720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33088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611880" y="1664208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Mantıksal Analiz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30168" y="2001520"/>
            <a:ext cx="1481328" cy="26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▸  </a:t>
            </a:r>
            <a:r>
              <a:rPr lang="en-US" sz="1000" dirty="0">
                <a:solidFill>
                  <a:schemeClr val="bg1"/>
                </a:solidFill>
              </a:rPr>
              <a:t>Tablo veri okuma</a:t>
            </a:r>
          </a:p>
        </p:txBody>
      </p:sp>
      <p:sp>
        <p:nvSpPr>
          <p:cNvPr id="33" name="Text 31"/>
          <p:cNvSpPr/>
          <p:nvPr/>
        </p:nvSpPr>
        <p:spPr>
          <a:xfrm>
            <a:off x="3630168" y="3337560"/>
            <a:ext cx="1481328" cy="280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▸  </a:t>
            </a:r>
            <a:r>
              <a:rPr lang="en-US" sz="1000" dirty="0" smtClean="0">
                <a:solidFill>
                  <a:schemeClr val="bg1"/>
                </a:solidFill>
              </a:rPr>
              <a:t>Cross-Check </a:t>
            </a:r>
            <a:r>
              <a:rPr lang="en-US" sz="1000" dirty="0" err="1" smtClean="0">
                <a:solidFill>
                  <a:schemeClr val="bg1"/>
                </a:solidFill>
              </a:rPr>
              <a:t>algoritması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3630168" y="3511296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▸  </a:t>
            </a:r>
            <a:r>
              <a:rPr lang="en-US" sz="1000" dirty="0">
                <a:solidFill>
                  <a:schemeClr val="bg1"/>
                </a:solidFill>
              </a:rPr>
              <a:t>Analiz Dashboard</a:t>
            </a:r>
          </a:p>
        </p:txBody>
      </p:sp>
      <p:sp>
        <p:nvSpPr>
          <p:cNvPr id="35" name="Shape 33"/>
          <p:cNvSpPr/>
          <p:nvPr/>
        </p:nvSpPr>
        <p:spPr>
          <a:xfrm>
            <a:off x="3721608" y="4142232"/>
            <a:ext cx="1298448" cy="292608"/>
          </a:xfrm>
          <a:prstGeom prst="roundRect">
            <a:avLst>
              <a:gd name="adj" fmla="val 15625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21608" y="414223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BEKLEMEDE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239512" y="1005840"/>
            <a:ext cx="1664208" cy="3520440"/>
          </a:xfrm>
          <a:prstGeom prst="rect">
            <a:avLst/>
          </a:prstGeom>
          <a:solidFill>
            <a:srgbClr val="1A2E44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239512" y="1005840"/>
            <a:ext cx="1664208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33872" y="1124712"/>
            <a:ext cx="457200" cy="45720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33872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312664" y="1664208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 &amp; Doğrulama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30952" y="226771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▸  </a:t>
            </a:r>
            <a:r>
              <a:rPr lang="en-US" sz="1000" dirty="0" smtClean="0">
                <a:solidFill>
                  <a:schemeClr val="bg1"/>
                </a:solidFill>
              </a:rPr>
              <a:t>Traceability</a:t>
            </a:r>
            <a:r>
              <a:rPr lang="tr-TR" sz="1000" dirty="0" smtClean="0">
                <a:solidFill>
                  <a:schemeClr val="bg1"/>
                </a:solidFill>
              </a:rPr>
              <a:t>(izlenebilirlik)</a:t>
            </a:r>
            <a:r>
              <a:rPr lang="en-US" sz="1000" dirty="0" smtClean="0">
                <a:solidFill>
                  <a:schemeClr val="bg1"/>
                </a:solidFill>
              </a:rPr>
              <a:t> </a:t>
            </a:r>
            <a:r>
              <a:rPr lang="en-US" sz="1000" dirty="0" err="1" smtClean="0">
                <a:solidFill>
                  <a:schemeClr val="bg1"/>
                </a:solidFill>
              </a:rPr>
              <a:t>matrisi</a:t>
            </a:r>
            <a:r>
              <a:rPr lang="tr-TR" sz="1000" dirty="0" smtClean="0">
                <a:solidFill>
                  <a:schemeClr val="bg1"/>
                </a:solidFill>
              </a:rPr>
              <a:t>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5330952" y="3025648"/>
            <a:ext cx="1481328" cy="41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▸  </a:t>
            </a:r>
            <a:r>
              <a:rPr lang="en-US" sz="1000" dirty="0">
                <a:solidFill>
                  <a:schemeClr val="bg1"/>
                </a:solidFill>
              </a:rPr>
              <a:t>Accuracy </a:t>
            </a:r>
            <a:r>
              <a:rPr lang="en-US" sz="1000" dirty="0" err="1" smtClean="0">
                <a:solidFill>
                  <a:schemeClr val="bg1"/>
                </a:solidFill>
              </a:rPr>
              <a:t>ölçümü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5330952" y="3511296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bg1"/>
                </a:solidFill>
              </a:rPr>
              <a:t>▸  </a:t>
            </a:r>
            <a:r>
              <a:rPr lang="tr-TR" sz="1000" dirty="0">
                <a:solidFill>
                  <a:schemeClr val="bg1"/>
                </a:solidFill>
              </a:rPr>
              <a:t>Sistemi </a:t>
            </a:r>
            <a:r>
              <a:rPr lang="tr-TR" sz="1000" dirty="0" smtClean="0">
                <a:solidFill>
                  <a:schemeClr val="bg1"/>
                </a:solidFill>
              </a:rPr>
              <a:t>kandırma testleri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422392" y="4142232"/>
            <a:ext cx="1298448" cy="292608"/>
          </a:xfrm>
          <a:prstGeom prst="roundRect">
            <a:avLst>
              <a:gd name="adj" fmla="val 15625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22392" y="414223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BEKLEMEDE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940296" y="1005840"/>
            <a:ext cx="1664208" cy="3520440"/>
          </a:xfrm>
          <a:prstGeom prst="rect">
            <a:avLst/>
          </a:prstGeom>
          <a:solidFill>
            <a:srgbClr val="1A2E44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940296" y="1005840"/>
            <a:ext cx="1664208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34656" y="1124712"/>
            <a:ext cx="457200" cy="45720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34656" y="1124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13448" y="1664208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Final &amp; Makale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031736" y="226771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▸  </a:t>
            </a:r>
            <a:r>
              <a:rPr lang="en-US" sz="1000" dirty="0">
                <a:solidFill>
                  <a:schemeClr val="bg1"/>
                </a:solidFill>
              </a:rPr>
              <a:t>MVP canlı demo</a:t>
            </a:r>
          </a:p>
        </p:txBody>
      </p:sp>
      <p:sp>
        <p:nvSpPr>
          <p:cNvPr id="53" name="Text 51"/>
          <p:cNvSpPr/>
          <p:nvPr/>
        </p:nvSpPr>
        <p:spPr>
          <a:xfrm>
            <a:off x="7031736" y="2889504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▸  </a:t>
            </a:r>
            <a:r>
              <a:rPr lang="en-US" sz="1000" dirty="0">
                <a:solidFill>
                  <a:schemeClr val="bg1"/>
                </a:solidFill>
              </a:rPr>
              <a:t>IEEE format makale</a:t>
            </a:r>
          </a:p>
        </p:txBody>
      </p:sp>
      <p:sp>
        <p:nvSpPr>
          <p:cNvPr id="54" name="Shape 52"/>
          <p:cNvSpPr/>
          <p:nvPr/>
        </p:nvSpPr>
        <p:spPr>
          <a:xfrm>
            <a:off x="7123176" y="4142232"/>
            <a:ext cx="1298448" cy="292608"/>
          </a:xfrm>
          <a:prstGeom prst="roundRect">
            <a:avLst>
              <a:gd name="adj" fmla="val 15625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23176" y="414223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BEKLEMEDE</a:t>
            </a:r>
            <a:endParaRPr lang="en-US" sz="900" dirty="0"/>
          </a:p>
        </p:txBody>
      </p:sp>
      <p:sp>
        <p:nvSpPr>
          <p:cNvPr id="56" name="Text 11"/>
          <p:cNvSpPr/>
          <p:nvPr/>
        </p:nvSpPr>
        <p:spPr>
          <a:xfrm>
            <a:off x="210312" y="3220212"/>
            <a:ext cx="115316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smtClean="0">
                <a:solidFill>
                  <a:srgbClr val="0D9488"/>
                </a:solidFill>
              </a:rPr>
              <a:t>▸  </a:t>
            </a:r>
            <a:r>
              <a:rPr lang="tr-TR" sz="1000" dirty="0" err="1" smtClean="0">
                <a:solidFill>
                  <a:schemeClr val="bg1"/>
                </a:solidFill>
              </a:rPr>
              <a:t>Streamlit</a:t>
            </a:r>
            <a:r>
              <a:rPr lang="tr-TR" sz="1000" b="1" dirty="0" smtClean="0">
                <a:solidFill>
                  <a:schemeClr val="bg1"/>
                </a:solidFill>
              </a:rPr>
              <a:t> </a:t>
            </a:r>
            <a:r>
              <a:rPr lang="tr-TR" sz="1000" dirty="0" err="1" smtClean="0">
                <a:solidFill>
                  <a:schemeClr val="bg1"/>
                </a:solidFill>
              </a:rPr>
              <a:t>arayüzü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0" name="Shape 27"/>
          <p:cNvSpPr/>
          <p:nvPr/>
        </p:nvSpPr>
        <p:spPr>
          <a:xfrm>
            <a:off x="2484120" y="1160526"/>
            <a:ext cx="457200" cy="45720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91740" y="1102487"/>
            <a:ext cx="457200" cy="573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61" name="Shape 26"/>
          <p:cNvSpPr/>
          <p:nvPr/>
        </p:nvSpPr>
        <p:spPr>
          <a:xfrm>
            <a:off x="1840992" y="1012190"/>
            <a:ext cx="1664208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3" name="Shape 33"/>
          <p:cNvSpPr/>
          <p:nvPr/>
        </p:nvSpPr>
        <p:spPr>
          <a:xfrm>
            <a:off x="1992376" y="4133088"/>
            <a:ext cx="1298448" cy="292608"/>
          </a:xfrm>
          <a:prstGeom prst="roundRect">
            <a:avLst>
              <a:gd name="adj" fmla="val 15625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20824" y="414223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900" b="1" dirty="0" smtClean="0">
                <a:solidFill>
                  <a:srgbClr val="FFFFFF"/>
                </a:solidFill>
              </a:rPr>
              <a:t>BEKLEMEDE</a:t>
            </a:r>
            <a:endParaRPr lang="en-US" sz="900" dirty="0"/>
          </a:p>
        </p:txBody>
      </p:sp>
      <p:sp>
        <p:nvSpPr>
          <p:cNvPr id="64" name="Text 21"/>
          <p:cNvSpPr/>
          <p:nvPr/>
        </p:nvSpPr>
        <p:spPr>
          <a:xfrm>
            <a:off x="1882648" y="2200656"/>
            <a:ext cx="148132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 smtClean="0">
                <a:solidFill>
                  <a:schemeClr val="bg1"/>
                </a:solidFill>
              </a:rPr>
              <a:t>▸</a:t>
            </a:r>
            <a:r>
              <a:rPr lang="tr-TR" sz="1000" b="1" dirty="0" smtClean="0">
                <a:solidFill>
                  <a:schemeClr val="bg1"/>
                </a:solidFill>
              </a:rPr>
              <a:t> </a:t>
            </a:r>
            <a:r>
              <a:rPr lang="en-US" sz="1000" b="1" dirty="0" smtClean="0">
                <a:solidFill>
                  <a:srgbClr val="0D9488"/>
                </a:solidFill>
              </a:rPr>
              <a:t> </a:t>
            </a:r>
            <a:r>
              <a:rPr lang="tr-TR" sz="1000" dirty="0" smtClean="0">
                <a:solidFill>
                  <a:srgbClr val="E8F4F8"/>
                </a:solidFill>
              </a:rPr>
              <a:t>5 Çelişki bulma ve referans </a:t>
            </a:r>
            <a:r>
              <a:rPr lang="tr-TR" sz="1000" dirty="0" err="1" smtClean="0">
                <a:solidFill>
                  <a:srgbClr val="E8F4F8"/>
                </a:solidFill>
              </a:rPr>
              <a:t>veriseti</a:t>
            </a:r>
            <a:r>
              <a:rPr lang="tr-TR" sz="1000" dirty="0" smtClean="0">
                <a:solidFill>
                  <a:srgbClr val="E8F4F8"/>
                </a:solidFill>
              </a:rPr>
              <a:t> olarak kaydetme</a:t>
            </a:r>
            <a:endParaRPr lang="en-US" sz="1000" dirty="0"/>
          </a:p>
        </p:txBody>
      </p:sp>
      <p:sp>
        <p:nvSpPr>
          <p:cNvPr id="66" name="Text 21"/>
          <p:cNvSpPr/>
          <p:nvPr/>
        </p:nvSpPr>
        <p:spPr>
          <a:xfrm>
            <a:off x="1900936" y="3143504"/>
            <a:ext cx="148132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bg1"/>
                </a:solidFill>
              </a:rPr>
              <a:t>▸ </a:t>
            </a:r>
            <a:r>
              <a:rPr lang="tr-TR" sz="1000" dirty="0" err="1" smtClean="0">
                <a:solidFill>
                  <a:schemeClr val="bg1"/>
                </a:solidFill>
              </a:rPr>
              <a:t>Metadata</a:t>
            </a:r>
            <a:r>
              <a:rPr lang="tr-TR" sz="1000" dirty="0" smtClean="0">
                <a:solidFill>
                  <a:schemeClr val="bg1"/>
                </a:solidFill>
              </a:rPr>
              <a:t>(etiket) filtreleme kodu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7" name="Text 30"/>
          <p:cNvSpPr/>
          <p:nvPr/>
        </p:nvSpPr>
        <p:spPr>
          <a:xfrm>
            <a:off x="3611880" y="2667000"/>
            <a:ext cx="1481328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bg1"/>
                </a:solidFill>
              </a:rPr>
              <a:t>▸  </a:t>
            </a:r>
            <a:r>
              <a:rPr lang="tr-TR" sz="1000" dirty="0" smtClean="0">
                <a:solidFill>
                  <a:schemeClr val="bg1"/>
                </a:solidFill>
              </a:rPr>
              <a:t>Bozuk </a:t>
            </a:r>
            <a:r>
              <a:rPr lang="tr-TR" sz="1000" dirty="0">
                <a:solidFill>
                  <a:schemeClr val="bg1"/>
                </a:solidFill>
              </a:rPr>
              <a:t>dosya yüklenmesine karşı </a:t>
            </a:r>
            <a:r>
              <a:rPr lang="tr-TR" sz="1000" dirty="0" smtClean="0">
                <a:solidFill>
                  <a:schemeClr val="bg1"/>
                </a:solidFill>
              </a:rPr>
              <a:t>güvenlik kodları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9" name="Text 30"/>
          <p:cNvSpPr/>
          <p:nvPr/>
        </p:nvSpPr>
        <p:spPr>
          <a:xfrm>
            <a:off x="3611880" y="2340864"/>
            <a:ext cx="1633728" cy="282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bg1"/>
                </a:solidFill>
              </a:rPr>
              <a:t>▸  </a:t>
            </a:r>
            <a:r>
              <a:rPr lang="tr-TR" sz="1000" dirty="0">
                <a:solidFill>
                  <a:schemeClr val="bg1"/>
                </a:solidFill>
              </a:rPr>
              <a:t>Veri/Nesne modelini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0" name="Text 41"/>
          <p:cNvSpPr/>
          <p:nvPr/>
        </p:nvSpPr>
        <p:spPr>
          <a:xfrm>
            <a:off x="5330952" y="3302000"/>
            <a:ext cx="1633728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bg1"/>
                </a:solidFill>
              </a:rPr>
              <a:t>▸  </a:t>
            </a:r>
            <a:r>
              <a:rPr lang="tr-TR" sz="1000" dirty="0" err="1">
                <a:solidFill>
                  <a:schemeClr val="bg1"/>
                </a:solidFill>
              </a:rPr>
              <a:t>V</a:t>
            </a:r>
            <a:r>
              <a:rPr lang="tr-TR" sz="1000" dirty="0" err="1" smtClean="0">
                <a:solidFill>
                  <a:schemeClr val="bg1"/>
                </a:solidFill>
              </a:rPr>
              <a:t>eritabanı</a:t>
            </a:r>
            <a:r>
              <a:rPr lang="tr-TR" sz="1000" dirty="0" smtClean="0">
                <a:solidFill>
                  <a:schemeClr val="bg1"/>
                </a:solidFill>
              </a:rPr>
              <a:t> </a:t>
            </a:r>
            <a:r>
              <a:rPr lang="tr-TR" sz="1000" dirty="0">
                <a:solidFill>
                  <a:schemeClr val="bg1"/>
                </a:solidFill>
              </a:rPr>
              <a:t>gecikmelerini (</a:t>
            </a:r>
            <a:r>
              <a:rPr lang="tr-TR" sz="1000" dirty="0" err="1">
                <a:solidFill>
                  <a:schemeClr val="bg1"/>
                </a:solidFill>
              </a:rPr>
              <a:t>latency</a:t>
            </a:r>
            <a:r>
              <a:rPr lang="tr-TR" sz="1000" dirty="0">
                <a:solidFill>
                  <a:schemeClr val="bg1"/>
                </a:solidFill>
              </a:rPr>
              <a:t>) ölçüp 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2" name="Text 41"/>
          <p:cNvSpPr/>
          <p:nvPr/>
        </p:nvSpPr>
        <p:spPr>
          <a:xfrm>
            <a:off x="5330952" y="2747772"/>
            <a:ext cx="163372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bg1"/>
                </a:solidFill>
              </a:rPr>
              <a:t>▸  </a:t>
            </a:r>
            <a:r>
              <a:rPr lang="tr-TR" sz="1000" dirty="0">
                <a:solidFill>
                  <a:schemeClr val="bg1"/>
                </a:solidFill>
              </a:rPr>
              <a:t>Veri -&gt; </a:t>
            </a:r>
            <a:r>
              <a:rPr lang="tr-TR" sz="1000" dirty="0" err="1">
                <a:solidFill>
                  <a:schemeClr val="bg1"/>
                </a:solidFill>
              </a:rPr>
              <a:t>Qdrant</a:t>
            </a:r>
            <a:r>
              <a:rPr lang="tr-TR" sz="1000" dirty="0">
                <a:solidFill>
                  <a:schemeClr val="bg1"/>
                </a:solidFill>
              </a:rPr>
              <a:t> -&gt; RAG -&gt; </a:t>
            </a:r>
            <a:r>
              <a:rPr lang="tr-TR" sz="1000" dirty="0" err="1">
                <a:solidFill>
                  <a:schemeClr val="bg1"/>
                </a:solidFill>
              </a:rPr>
              <a:t>Groq</a:t>
            </a:r>
            <a:r>
              <a:rPr lang="tr-TR" sz="1000" dirty="0">
                <a:solidFill>
                  <a:schemeClr val="bg1"/>
                </a:solidFill>
              </a:rPr>
              <a:t> -&gt; UI (Tüm </a:t>
            </a:r>
            <a:r>
              <a:rPr lang="tr-TR" sz="1000" dirty="0" err="1">
                <a:solidFill>
                  <a:schemeClr val="bg1"/>
                </a:solidFill>
              </a:rPr>
              <a:t>Pipeline</a:t>
            </a:r>
            <a:r>
              <a:rPr lang="tr-TR" sz="1000" dirty="0">
                <a:solidFill>
                  <a:schemeClr val="bg1"/>
                </a:solidFill>
              </a:rPr>
              <a:t>) bağlantısı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 Mimarisi &amp; Kapsam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Uçtan uca RAG pipeline — PDF'ten değerlendirme raporuna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1051560"/>
            <a:ext cx="8778240" cy="3657600"/>
          </a:xfrm>
          <a:prstGeom prst="rect">
            <a:avLst/>
          </a:prstGeom>
          <a:solidFill>
            <a:srgbClr val="1A2E4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0"/>
            <a:ext cx="8686800" cy="3566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6"/>
          <p:cNvSpPr/>
          <p:nvPr/>
        </p:nvSpPr>
        <p:spPr>
          <a:xfrm>
            <a:off x="-34290" y="-40360"/>
            <a:ext cx="9178290" cy="5183859"/>
          </a:xfrm>
          <a:prstGeom prst="rect">
            <a:avLst/>
          </a:prstGeom>
          <a:solidFill>
            <a:srgbClr val="1A2E4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Vektör Veritabanı — Qdrant Cloud</a:t>
            </a:r>
            <a:endParaRPr lang="en-US" sz="2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79" y="685800"/>
            <a:ext cx="8641081" cy="31912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82880" y="3950208"/>
            <a:ext cx="8641080" cy="329184"/>
          </a:xfrm>
          <a:prstGeom prst="roundRect">
            <a:avLst>
              <a:gd name="adj" fmla="val 13889"/>
            </a:avLst>
          </a:prstGeom>
          <a:solidFill>
            <a:srgbClr val="0D30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82880" y="391363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Küme Genel Bakış — HEALTHY ✅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82880" y="4343400"/>
            <a:ext cx="2011680" cy="621792"/>
          </a:xfrm>
          <a:prstGeom prst="rect">
            <a:avLst/>
          </a:prstGeom>
          <a:solidFill>
            <a:srgbClr val="0D304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82880" y="4343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2000" b="1" dirty="0" smtClean="0">
                <a:solidFill>
                  <a:srgbClr val="14B8A6"/>
                </a:solidFill>
              </a:rPr>
              <a:t>4 GB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82880" y="466344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900" dirty="0" smtClean="0">
                <a:solidFill>
                  <a:srgbClr val="94A3B8"/>
                </a:solidFill>
              </a:rPr>
              <a:t>Veri Deposu</a:t>
            </a:r>
          </a:p>
        </p:txBody>
      </p:sp>
      <p:sp>
        <p:nvSpPr>
          <p:cNvPr id="18" name="Shape 14"/>
          <p:cNvSpPr/>
          <p:nvPr/>
        </p:nvSpPr>
        <p:spPr>
          <a:xfrm>
            <a:off x="2377440" y="4343400"/>
            <a:ext cx="2011680" cy="621792"/>
          </a:xfrm>
          <a:prstGeom prst="rect">
            <a:avLst/>
          </a:prstGeom>
          <a:solidFill>
            <a:srgbClr val="0D304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377440" y="4343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2000" b="1" dirty="0" smtClean="0">
                <a:solidFill>
                  <a:srgbClr val="14B8A6"/>
                </a:solidFill>
              </a:rPr>
              <a:t>0,5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2377440" y="466344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900" dirty="0" err="1" smtClean="0">
                <a:solidFill>
                  <a:srgbClr val="94A3B8"/>
                </a:solidFill>
              </a:rPr>
              <a:t>vCPU</a:t>
            </a:r>
            <a:endParaRPr lang="tr-TR" sz="900" dirty="0" smtClean="0">
              <a:solidFill>
                <a:srgbClr val="94A3B8"/>
              </a:solidFill>
            </a:endParaRPr>
          </a:p>
        </p:txBody>
      </p:sp>
      <p:sp>
        <p:nvSpPr>
          <p:cNvPr id="21" name="Shape 17"/>
          <p:cNvSpPr/>
          <p:nvPr/>
        </p:nvSpPr>
        <p:spPr>
          <a:xfrm>
            <a:off x="4572000" y="4343400"/>
            <a:ext cx="2011680" cy="621792"/>
          </a:xfrm>
          <a:prstGeom prst="rect">
            <a:avLst/>
          </a:prstGeom>
          <a:solidFill>
            <a:srgbClr val="0D304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572000" y="4343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smtClean="0">
                <a:solidFill>
                  <a:srgbClr val="14B8A6"/>
                </a:solidFill>
              </a:rPr>
              <a:t>v1.17</a:t>
            </a:r>
            <a:r>
              <a:rPr lang="tr-TR" sz="2000" b="1" dirty="0" smtClean="0">
                <a:solidFill>
                  <a:srgbClr val="14B8A6"/>
                </a:solidFill>
              </a:rPr>
              <a:t>.0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4572000" y="466344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Qdrant Sürümü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812280" y="4366260"/>
            <a:ext cx="2011680" cy="621792"/>
          </a:xfrm>
          <a:prstGeom prst="rect">
            <a:avLst/>
          </a:prstGeom>
          <a:solidFill>
            <a:srgbClr val="0D304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766560" y="4343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</a:rPr>
              <a:t>1 GiB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6766560" y="466344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Veri Deposu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29491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Altyapı</a:t>
            </a:r>
            <a:r>
              <a:rPr lang="en-US" sz="26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Kanıtı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Groq + Qdrant entegrasyon testi başarıyla geçildi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5943600" cy="3749040"/>
          </a:xfrm>
          <a:prstGeom prst="rect">
            <a:avLst/>
          </a:prstGeom>
          <a:solidFill>
            <a:srgbClr val="1A2E44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51560"/>
            <a:ext cx="5852160" cy="3657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09360" y="1005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Terminal Çıktısı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09360" y="1371600"/>
            <a:ext cx="26517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0" y="1508760"/>
            <a:ext cx="2651760" cy="594360"/>
          </a:xfrm>
          <a:prstGeom prst="rect">
            <a:avLst/>
          </a:prstGeom>
          <a:solidFill>
            <a:srgbClr val="0D1E2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55080" y="1508760"/>
            <a:ext cx="256032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</a:rPr>
              <a:t>🚀  Python 3.14 + venv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09360" y="2258568"/>
            <a:ext cx="2651760" cy="594360"/>
          </a:xfrm>
          <a:prstGeom prst="rect">
            <a:avLst/>
          </a:prstGeom>
          <a:solidFill>
            <a:srgbClr val="0D1E2F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55080" y="2258568"/>
            <a:ext cx="256032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</a:rPr>
              <a:t>🤖  Groq Llama-3.3-70b Yanıtı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309360" y="3008376"/>
            <a:ext cx="2651760" cy="594360"/>
          </a:xfrm>
          <a:prstGeom prst="rect">
            <a:avLst/>
          </a:prstGeom>
          <a:solidFill>
            <a:srgbClr val="0D1E2F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55080" y="3008376"/>
            <a:ext cx="256032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</a:rPr>
              <a:t>🗄️  Qdrant Bağlantısı: BAŞARILI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309360" y="3758184"/>
            <a:ext cx="2651760" cy="594360"/>
          </a:xfrm>
          <a:prstGeom prst="rect">
            <a:avLst/>
          </a:prstGeom>
          <a:solidFill>
            <a:srgbClr val="0D1E2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355080" y="3758184"/>
            <a:ext cx="256032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✅  SPRINT 1 TAMAMLANDI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Ürün İş Listesi — Product Backlog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INVEST prensipleriyle hazırlanmış 6 User Story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88696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05840"/>
            <a:ext cx="91440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 ID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005840"/>
            <a:ext cx="137160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1005840"/>
            <a:ext cx="310896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İstek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1005840"/>
            <a:ext cx="338328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Kabul Kriteri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" y="1389888"/>
            <a:ext cx="8869680" cy="57607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1389888"/>
            <a:ext cx="914400" cy="5760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</a:rPr>
              <a:t>US-01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97280" y="1389888"/>
            <a:ext cx="1371600" cy="5760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Analist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14600" y="1389888"/>
            <a:ext cx="3108960" cy="5760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SRS PDF yükle, otomatik analiz başlasın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0" y="1389888"/>
            <a:ext cx="3383280" cy="5760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%95 doğru metin çıkarımı, hata olunca bildirim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37160" y="1984248"/>
            <a:ext cx="8869680" cy="576072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" y="1984248"/>
            <a:ext cx="914400" cy="5760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</a:rPr>
              <a:t>US-02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1984248"/>
            <a:ext cx="1371600" cy="5760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Analist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14600" y="1984248"/>
            <a:ext cx="3108960" cy="5760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Belirsiz gereksinimleri listele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0" y="1984248"/>
            <a:ext cx="3383280" cy="5760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ISO 29148 ihlalleri ID'siyle listelenmeli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37160" y="2578608"/>
            <a:ext cx="8869680" cy="57607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" y="2578608"/>
            <a:ext cx="914400" cy="5760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</a:rPr>
              <a:t>US-03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97280" y="2578608"/>
            <a:ext cx="1371600" cy="5760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Sis. Mimarı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14600" y="2578608"/>
            <a:ext cx="3108960" cy="5760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Çelişen gereksinimi göster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669280" y="2578608"/>
            <a:ext cx="3383280" cy="5760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REQ-012 ↔ REQ-045 çakışması tespit edilmeli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37160" y="3172968"/>
            <a:ext cx="8869680" cy="576072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" y="3172968"/>
            <a:ext cx="914400" cy="5760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</a:rPr>
              <a:t>US-04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97280" y="3172968"/>
            <a:ext cx="1371600" cy="5760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PM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514600" y="3172968"/>
            <a:ext cx="3108960" cy="5760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Kalite skoru al (0-100)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69280" y="3172968"/>
            <a:ext cx="3383280" cy="5760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Skor &lt; 80 → sarı, &lt; 60 → kırmızı gösterilmeli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37160" y="3767328"/>
            <a:ext cx="8869680" cy="57607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" y="3767328"/>
            <a:ext cx="914400" cy="5760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</a:rPr>
              <a:t>US-05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97280" y="3767328"/>
            <a:ext cx="1371600" cy="5760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Sis. Mimarı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514600" y="3767328"/>
            <a:ext cx="3108960" cy="5760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Sayfa/bölüm bazlı metadata görüntüle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69280" y="3767328"/>
            <a:ext cx="3383280" cy="5760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Her chunk → sayfa no + kaynak dosya bilgisi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37160" y="4361688"/>
            <a:ext cx="8869680" cy="576072"/>
          </a:xfrm>
          <a:prstGeom prst="rect">
            <a:avLst/>
          </a:prstGeom>
          <a:solidFill>
            <a:srgbClr val="1A2E44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7160" y="4361688"/>
            <a:ext cx="914400" cy="5760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4B8A6"/>
                </a:solidFill>
              </a:rPr>
              <a:t>US-06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97280" y="4361688"/>
            <a:ext cx="1371600" cy="5760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Analist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514600" y="4361688"/>
            <a:ext cx="3108960" cy="5760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Raporu dışa aktar (JSON/PDF)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0" y="4361688"/>
            <a:ext cx="3383280" cy="5760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3 tıklama ile indirme başlamalı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Resi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72160" y="-406400"/>
            <a:ext cx="10617199" cy="595376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 err="1" smtClean="0">
                <a:solidFill>
                  <a:srgbClr val="14B8A6"/>
                </a:solidFill>
              </a:rPr>
              <a:t>Altyapı</a:t>
            </a:r>
            <a:r>
              <a:rPr lang="en-US" sz="2000" i="1" dirty="0" smtClean="0">
                <a:solidFill>
                  <a:srgbClr val="14B8A6"/>
                </a:solidFill>
              </a:rPr>
              <a:t> </a:t>
            </a:r>
            <a:r>
              <a:rPr lang="en-US" sz="2000" i="1" dirty="0" err="1">
                <a:solidFill>
                  <a:srgbClr val="14B8A6"/>
                </a:solidFill>
              </a:rPr>
              <a:t>ve</a:t>
            </a:r>
            <a:r>
              <a:rPr lang="en-US" sz="2000" i="1" dirty="0">
                <a:solidFill>
                  <a:srgbClr val="14B8A6"/>
                </a:solidFill>
              </a:rPr>
              <a:t> </a:t>
            </a:r>
            <a:r>
              <a:rPr lang="en-US" sz="2000" i="1" dirty="0" err="1">
                <a:solidFill>
                  <a:srgbClr val="14B8A6"/>
                </a:solidFill>
              </a:rPr>
              <a:t>Temel</a:t>
            </a:r>
            <a:r>
              <a:rPr lang="en-US" sz="2000" i="1" dirty="0">
                <a:solidFill>
                  <a:srgbClr val="14B8A6"/>
                </a:solidFill>
              </a:rPr>
              <a:t> </a:t>
            </a:r>
            <a:r>
              <a:rPr lang="en-US" sz="2000" i="1" dirty="0" err="1">
                <a:solidFill>
                  <a:srgbClr val="14B8A6"/>
                </a:solidFill>
              </a:rPr>
              <a:t>Atma</a:t>
            </a:r>
            <a:r>
              <a:rPr lang="en-US" sz="2000" i="1" dirty="0">
                <a:solidFill>
                  <a:srgbClr val="14B8A6"/>
                </a:solidFill>
              </a:rPr>
              <a:t>: </a:t>
            </a:r>
            <a:r>
              <a:rPr lang="en-US" sz="2000" i="1" dirty="0" err="1">
                <a:solidFill>
                  <a:srgbClr val="14B8A6"/>
                </a:solidFill>
              </a:rPr>
              <a:t>Veri</a:t>
            </a:r>
            <a:r>
              <a:rPr lang="en-US" sz="2000" i="1" dirty="0">
                <a:solidFill>
                  <a:srgbClr val="14B8A6"/>
                </a:solidFill>
              </a:rPr>
              <a:t> (Data) </a:t>
            </a:r>
            <a:r>
              <a:rPr lang="en-US" sz="2000" i="1" dirty="0" err="1">
                <a:solidFill>
                  <a:srgbClr val="14B8A6"/>
                </a:solidFill>
              </a:rPr>
              <a:t>Hazırlığı</a:t>
            </a:r>
            <a:endParaRPr lang="en-US" sz="2000" dirty="0"/>
          </a:p>
          <a:p>
            <a:r>
              <a:rPr lang="en-US" sz="2000" b="1" dirty="0">
                <a:solidFill>
                  <a:srgbClr val="FFFFFF"/>
                </a:solidFill>
              </a:rPr>
              <a:t>🎯 Problem ve Kapsam Tanımları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1170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332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🎯  Problem Tanımı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6245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Yazılım gereksinim dokümanları (SRS) büyüdükçe manuel analiz hem zaman alıcı hem hata doğurucu hale gelir. Hangi gereksinimlerin belirsiz, tutarsız veya eksik olduğunu tespit etmek uzmanlık gerektirir.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286000"/>
            <a:ext cx="859536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286000"/>
            <a:ext cx="73152" cy="1170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59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🚧  Kapsam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68833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Projemiz yalnızca REQ-ID formatındaki gereksinimlere odaklanır. Grafik, tablo ve kod bloklarını kapsam dışında tutarak metnin yapısal ayrıştırılmasına yoğunlaştık.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611880"/>
            <a:ext cx="859536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611880"/>
            <a:ext cx="73152" cy="1170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685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📝  Çıktı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0142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Kavramsal çerçeve ve proje sınırları dokümante edildi. Tüm ekip aynı veri modeli üzerinde hemfikir hale geldi; altyapı kararları netleştirildi.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4773168"/>
            <a:ext cx="8595360" cy="246888"/>
          </a:xfrm>
          <a:prstGeom prst="rect">
            <a:avLst/>
          </a:prstGeom>
          <a:solidFill>
            <a:srgbClr val="EBF8F5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4773168"/>
            <a:ext cx="8503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9488"/>
                </a:solidFill>
              </a:rPr>
              <a:t>💬  "Kodlamaya geçmeden önce çözeceğimiz problemi ve proje sınırlarını net bir şekilde kağıda döktük; tüm ekip aynı hedefe odaklanabildi."</a:t>
            </a:r>
            <a:endParaRPr lang="en-US" sz="900" dirty="0"/>
          </a:p>
        </p:txBody>
      </p:sp>
      <p:pic>
        <p:nvPicPr>
          <p:cNvPr id="19" name="Resim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525" y="0"/>
            <a:ext cx="9153525" cy="76200"/>
          </a:xfrm>
          <a:prstGeom prst="rect">
            <a:avLst/>
          </a:prstGeom>
        </p:spPr>
      </p:pic>
      <p:pic>
        <p:nvPicPr>
          <p:cNvPr id="20" name="Resim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1" y="36195"/>
            <a:ext cx="45719" cy="923925"/>
          </a:xfrm>
          <a:prstGeom prst="rect">
            <a:avLst/>
          </a:prstGeom>
        </p:spPr>
      </p:pic>
      <p:pic>
        <p:nvPicPr>
          <p:cNvPr id="21" name="Resim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1" y="48260"/>
            <a:ext cx="76200" cy="923925"/>
          </a:xfrm>
          <a:prstGeom prst="rect">
            <a:avLst/>
          </a:prstGeom>
        </p:spPr>
      </p:pic>
      <p:pic>
        <p:nvPicPr>
          <p:cNvPr id="22" name="Resim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5580" y="4210621"/>
            <a:ext cx="76200" cy="923925"/>
          </a:xfrm>
          <a:prstGeom prst="rect">
            <a:avLst/>
          </a:prstGeom>
        </p:spPr>
      </p:pic>
      <p:pic>
        <p:nvPicPr>
          <p:cNvPr id="23" name="Resim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" y="5062823"/>
            <a:ext cx="9153525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796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Resim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5760" y="-233680"/>
            <a:ext cx="10099039" cy="57404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⚙️  PDF'ten Veri Çıkarımı ve Ayrıştırma (Parsing)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92024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20624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914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  Kütüphane — PyMuPDF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389888"/>
            <a:ext cx="3977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PDF dokümanından düşük seviyeli metin verisi çekildi; sayfa numarası ve blok koordinatları metadata olarak korundu.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206240" cy="192024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14400"/>
            <a:ext cx="420624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818888" y="914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  İşlem — Ham Metin Çıkarımı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18888" y="1389888"/>
            <a:ext cx="3977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Hedef SRS dosyalarından sayfa sayfa ham metin elde edildi; encoding hataları ve gizli karakterler temizlendi.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4206240" cy="192024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71800"/>
            <a:ext cx="4206240" cy="4114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9718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  Filtreleme — Regex Desenleri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3447288"/>
            <a:ext cx="3977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REQ-\d+ formatındaki başlıklar Regex ile tespit edildi; her gereksinim kendi metin bloğundan izole edildi.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4206240" cy="192024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71800"/>
            <a:ext cx="4206240" cy="411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4818888" y="29718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  Durum — ✅ Tamamlandı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18888" y="3447288"/>
            <a:ext cx="3977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4F8"/>
                </a:solidFill>
              </a:rPr>
              <a:t>İlk ayrıştırma algoritması başarıyla kodlandı ve GitHub'a pushlanan kod ile çalıştırıldı.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4B8A6"/>
                </a:solidFill>
              </a:rPr>
              <a:t>💬  "Regex yazarak karmaşık metinler içinden sadece 'REQ' formatlı başlıkları yakalayan ilk ayrıştırma kodumuzu yazdık."</a:t>
            </a:r>
            <a:endParaRPr lang="en-US" sz="900" dirty="0"/>
          </a:p>
        </p:txBody>
      </p:sp>
      <p:pic>
        <p:nvPicPr>
          <p:cNvPr id="22" name="Resim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270"/>
            <a:ext cx="9153525" cy="76200"/>
          </a:xfrm>
          <a:prstGeom prst="rect">
            <a:avLst/>
          </a:prstGeom>
        </p:spPr>
      </p:pic>
      <p:pic>
        <p:nvPicPr>
          <p:cNvPr id="23" name="Resim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26035"/>
            <a:ext cx="76200" cy="923925"/>
          </a:xfrm>
          <a:prstGeom prst="rect">
            <a:avLst/>
          </a:prstGeom>
        </p:spPr>
      </p:pic>
      <p:pic>
        <p:nvPicPr>
          <p:cNvPr id="24" name="Resim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5082540"/>
            <a:ext cx="9153525" cy="76200"/>
          </a:xfrm>
          <a:prstGeom prst="rect">
            <a:avLst/>
          </a:prstGeom>
        </p:spPr>
      </p:pic>
      <p:pic>
        <p:nvPicPr>
          <p:cNvPr id="25" name="Resim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4942" y="4158615"/>
            <a:ext cx="76200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268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Fonksiyonel Olmayan Gereksinimler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3 kritik NFR — ölçülebilir kriterlerle tanımlanmış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" y="1005840"/>
            <a:ext cx="2834640" cy="3749040"/>
          </a:xfrm>
          <a:prstGeom prst="rect">
            <a:avLst/>
          </a:prstGeom>
          <a:solidFill>
            <a:srgbClr val="1A2E44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005840"/>
            <a:ext cx="28346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1155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01168" y="166420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Güvenlik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8328" y="2176272"/>
            <a:ext cx="2560320" cy="36576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Tanım: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" y="25420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API anahtarları yalnızca .env ile yönetilir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" y="32552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Ölçülebilir Kriter: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" y="3584448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0D30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3584448"/>
            <a:ext cx="256032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Yetkisiz istek → 401 Unauthorized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82112" y="1005840"/>
            <a:ext cx="2834640" cy="3749040"/>
          </a:xfrm>
          <a:prstGeom prst="rect">
            <a:avLst/>
          </a:prstGeom>
          <a:solidFill>
            <a:srgbClr val="1A2E4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82112" y="1005840"/>
            <a:ext cx="28346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82112" y="11155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182112" y="166420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9488"/>
                </a:solidFill>
              </a:rPr>
              <a:t>Performans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319272" y="2176272"/>
            <a:ext cx="2560320" cy="36576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Tanım: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9272" y="25420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Groq LPU hızıyla düşük gecikmeli analiz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19272" y="32552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Ölçülebilir Kriter: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73552" y="3584448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0D30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9272" y="3584448"/>
            <a:ext cx="256032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20 sayfa (~100 gereksinim) &lt; 10 saniye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63056" y="1005840"/>
            <a:ext cx="2834640" cy="3749040"/>
          </a:xfrm>
          <a:prstGeom prst="rect">
            <a:avLst/>
          </a:prstGeom>
          <a:solidFill>
            <a:srgbClr val="1A2E44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63056" y="1005840"/>
            <a:ext cx="283464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63056" y="11155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163056" y="166420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C55E"/>
                </a:solidFill>
              </a:rPr>
              <a:t>Kullanılabilirlik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300216" y="2176272"/>
            <a:ext cx="2560320" cy="36576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0216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Tanım: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0216" y="25420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Kod/terminal gerektirmez — saf web arayüzü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0216" y="32552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Ölçülebilir Kriter: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54496" y="3584448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0D304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0216" y="3584448"/>
            <a:ext cx="2560320" cy="65836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Dosya Yükle → ≤ 3 tıklama → Rapor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Resim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2676" y="-662559"/>
            <a:ext cx="11039475" cy="6597903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⚙️  Veri Ön İşleme &amp; Semantik Hafıza — Retrieval &amp; Logic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206240" cy="406908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420624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68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📄  Ham PDF → 92 Parça (Chunk)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3977640" cy="960120"/>
          </a:xfrm>
          <a:prstGeom prst="rect">
            <a:avLst/>
          </a:prstGeom>
          <a:solidFill>
            <a:srgbClr val="0F2D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44475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Regex ile Ayrıştırma:</a:t>
            </a:r>
            <a:r>
              <a:rPr lang="en-US" sz="1000" dirty="0">
                <a:solidFill>
                  <a:srgbClr val="FFFFFF"/>
                </a:solidFill>
              </a:rPr>
              <a:t> 20 sayfalık SRS, REQ-\d+ deseniyle tam 92 anlamlı parçaya bölündü.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2505456"/>
            <a:ext cx="3977640" cy="960120"/>
          </a:xfrm>
          <a:prstGeom prst="rect">
            <a:avLst/>
          </a:prstGeom>
          <a:solidFill>
            <a:srgbClr val="0F2D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🏷️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672" y="256032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Metadata Zenginleştirme:</a:t>
            </a:r>
            <a:r>
              <a:rPr lang="en-US" sz="1000" dirty="0">
                <a:solidFill>
                  <a:srgbClr val="FFFFFF"/>
                </a:solidFill>
              </a:rPr>
              <a:t> Her chunk'a REQ-ID ve Sayfa Numarası kimlik kartı çıkarıldı.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3621024"/>
            <a:ext cx="3977640" cy="960120"/>
          </a:xfrm>
          <a:prstGeom prst="rect">
            <a:avLst/>
          </a:prstGeom>
          <a:solidFill>
            <a:srgbClr val="0F2D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4672" y="367588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Traceability:</a:t>
            </a:r>
            <a:r>
              <a:rPr lang="en-US" sz="1000" dirty="0">
                <a:solidFill>
                  <a:srgbClr val="FFFFFF"/>
                </a:solidFill>
              </a:rPr>
              <a:t> Analist hatayı dokümanın tam hangi sayfasında bulacağını anında görür.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81728" y="868680"/>
            <a:ext cx="4233672" cy="406908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81728" y="868680"/>
            <a:ext cx="4233672" cy="38404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168" y="868680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🧠  Semantik Hafıza &amp; Hibrit Arama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1389888"/>
            <a:ext cx="3977640" cy="960120"/>
          </a:xfrm>
          <a:prstGeom prst="rect">
            <a:avLst/>
          </a:prstGeom>
          <a:solidFill>
            <a:srgbClr val="0F2D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64608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57800" y="144475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Embedding Modeli:</a:t>
            </a:r>
            <a:r>
              <a:rPr lang="en-US" sz="1000" dirty="0">
                <a:solidFill>
                  <a:srgbClr val="FFFFFF"/>
                </a:solidFill>
              </a:rPr>
              <a:t> all-MiniLM-L6-v2 ile metinler 384 boyutlu vektörlere dönüştürüldü.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2505456"/>
            <a:ext cx="3977640" cy="960120"/>
          </a:xfrm>
          <a:prstGeom prst="rect">
            <a:avLst/>
          </a:prstGeom>
          <a:solidFill>
            <a:srgbClr val="0F2D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64608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57800" y="256032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Hybrid Search:</a:t>
            </a:r>
            <a:r>
              <a:rPr lang="en-US" sz="1000" dirty="0">
                <a:solidFill>
                  <a:srgbClr val="FFFFFF"/>
                </a:solidFill>
              </a:rPr>
              <a:t> BM25 (kelime) + Vektör (anlam) iki katmanı LangChain ile birleştirdi.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621024"/>
            <a:ext cx="3977640" cy="960120"/>
          </a:xfrm>
          <a:prstGeom prst="rect">
            <a:avLst/>
          </a:prstGeom>
          <a:solidFill>
            <a:srgbClr val="0F2D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64608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☁️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57800" y="367588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Qdrant Cloud:</a:t>
            </a:r>
            <a:r>
              <a:rPr lang="en-US" sz="1000" dirty="0">
                <a:solidFill>
                  <a:srgbClr val="FFFFFF"/>
                </a:solidFill>
              </a:rPr>
              <a:t> 384-boyutlu vektörler sistemin akıllı hafızasını oluşturdu; sorgular &lt;150 ms.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4828032"/>
            <a:ext cx="8686800" cy="237744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482803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💬  "Analist 'performans' diye arattığında sistem 'hız' veya 'gecikme' geçen maddeleri de anlamsal olarak buluyor."</a:t>
            </a:r>
            <a:endParaRPr lang="en-US" sz="900" dirty="0"/>
          </a:p>
        </p:txBody>
      </p:sp>
      <p:sp>
        <p:nvSpPr>
          <p:cNvPr id="31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2" name="Resim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200" y="0"/>
            <a:ext cx="76200" cy="923925"/>
          </a:xfrm>
          <a:prstGeom prst="rect">
            <a:avLst/>
          </a:prstGeom>
        </p:spPr>
      </p:pic>
      <p:pic>
        <p:nvPicPr>
          <p:cNvPr id="33" name="Resim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41923" y="5143500"/>
            <a:ext cx="9153525" cy="76200"/>
          </a:xfrm>
          <a:prstGeom prst="rect">
            <a:avLst/>
          </a:prstGeom>
        </p:spPr>
      </p:pic>
      <p:pic>
        <p:nvPicPr>
          <p:cNvPr id="34" name="Resim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4648" y="4295775"/>
            <a:ext cx="76200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76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37160"/>
            <a:ext cx="83759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26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</a:t>
            </a: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— </a:t>
            </a:r>
            <a:r>
              <a:rPr lang="en-US" sz="2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Vektör</a:t>
            </a: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Veritabanı — Qdrant Cloud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4008" y="638106"/>
            <a:ext cx="8897112" cy="3202374"/>
          </a:xfrm>
          <a:prstGeom prst="rect">
            <a:avLst/>
          </a:prstGeom>
          <a:solidFill>
            <a:srgbClr val="1A2E4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31520"/>
            <a:ext cx="8732520" cy="3063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82880" y="3913632"/>
            <a:ext cx="8778240" cy="329184"/>
          </a:xfrm>
          <a:prstGeom prst="roundRect">
            <a:avLst>
              <a:gd name="adj" fmla="val 13889"/>
            </a:avLst>
          </a:prstGeom>
          <a:solidFill>
            <a:srgbClr val="0D30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82880" y="3913632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Payload + Metadata (sayfa no, kaynak, req_id)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82880" y="4343400"/>
            <a:ext cx="2011680" cy="621792"/>
          </a:xfrm>
          <a:prstGeom prst="rect">
            <a:avLst/>
          </a:prstGeom>
          <a:solidFill>
            <a:srgbClr val="0D304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82880" y="4343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</a:rPr>
              <a:t>92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82880" y="466344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Chunk İndekslendi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377440" y="4343400"/>
            <a:ext cx="2011680" cy="621792"/>
          </a:xfrm>
          <a:prstGeom prst="rect">
            <a:avLst/>
          </a:prstGeom>
          <a:solidFill>
            <a:srgbClr val="0D304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377440" y="4343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</a:rPr>
              <a:t>384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2377440" y="466344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Vektör Boyutu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572000" y="4343400"/>
            <a:ext cx="2011680" cy="621792"/>
          </a:xfrm>
          <a:prstGeom prst="rect">
            <a:avLst/>
          </a:prstGeom>
          <a:solidFill>
            <a:srgbClr val="0D304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572000" y="4343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smtClean="0">
                <a:solidFill>
                  <a:srgbClr val="14B8A6"/>
                </a:solidFill>
              </a:rPr>
              <a:t>v1.17</a:t>
            </a:r>
            <a:r>
              <a:rPr lang="tr-TR" sz="2000" b="1" dirty="0" smtClean="0">
                <a:solidFill>
                  <a:srgbClr val="14B8A6"/>
                </a:solidFill>
              </a:rPr>
              <a:t>.0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4572000" y="466344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Qdrant Sürümü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766560" y="4343400"/>
            <a:ext cx="2011680" cy="621792"/>
          </a:xfrm>
          <a:prstGeom prst="rect">
            <a:avLst/>
          </a:prstGeom>
          <a:solidFill>
            <a:srgbClr val="0D3040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766560" y="4343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B8A6"/>
                </a:solidFill>
              </a:rPr>
              <a:t>1 GiB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6766560" y="466344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Veri Deposu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Resi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7087" y="-497840"/>
            <a:ext cx="9637710" cy="5832936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☁️  Qdrant Cloud Entegrasyonu, Güvenlik &amp; Sonuç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73152" cy="1207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418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🚀  Veri Yükleme (Upsert)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8930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Hazırladığım 92 parçalık chunk verisi, Samet'in açtığı Qdrant Cloud kümesine vektörleştirilerek sorunsuz şekilde yüklendi. Tüm metadata korundu.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859536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240280"/>
            <a:ext cx="73152" cy="1207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13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🔐  Güvenli Veri Akışı (NFR)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66090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API anahtarları .env dosyasında şifreli olarak saklandı. Şifreli bağlantı protokolü kullanıldı; yetkisiz erişim denemelerinde 401 Unauthorized döndürülür.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611880"/>
            <a:ext cx="859536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611880"/>
            <a:ext cx="73152" cy="12070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685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🌐  Ekip Erişilebilirliği (User Story 6)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03250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Bu yapı sayesinde ekibin farklı lokasyonlardan aynı güncel vektör verisine erişmesi sağlandı. Qdrant Cloud, Sprint 3'teki Cross-Check algoritmasının temel taşıdır.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solidFill>
            <a:srgbClr val="EBF8F5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4773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9488"/>
                </a:solidFill>
              </a:rPr>
              <a:t>💬  "Bu yapı, projemizin ilerleyen safhalarındaki Cross-Check (Çelişki Analizi) algoritmasının temel taşıdır."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65211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Başarı Metrikleri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Teknik, kullanıcı ve iş hedefleri bazlı ölçütler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4297680" cy="1737360"/>
          </a:xfrm>
          <a:prstGeom prst="rect">
            <a:avLst/>
          </a:prstGeom>
          <a:solidFill>
            <a:srgbClr val="1A2E4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005840"/>
            <a:ext cx="4297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15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🎯  Doğruluk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" y="1554480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 smtClean="0">
                <a:solidFill>
                  <a:srgbClr val="0D9488"/>
                </a:solidFill>
              </a:rPr>
              <a:t>▸</a:t>
            </a:r>
            <a:r>
              <a:rPr lang="tr-TR" sz="1100" dirty="0">
                <a:solidFill>
                  <a:schemeClr val="bg1"/>
                </a:solidFill>
              </a:rPr>
              <a:t>Belirsizlik (</a:t>
            </a:r>
            <a:r>
              <a:rPr lang="tr-TR" sz="1100" dirty="0" err="1">
                <a:solidFill>
                  <a:schemeClr val="bg1"/>
                </a:solidFill>
              </a:rPr>
              <a:t>Ambiguity</a:t>
            </a:r>
            <a:r>
              <a:rPr lang="tr-TR" sz="1100" dirty="0">
                <a:solidFill>
                  <a:schemeClr val="bg1"/>
                </a:solidFill>
              </a:rPr>
              <a:t>) Tespiti ≥ %80 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1901952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sz="1100" b="1" dirty="0">
                <a:solidFill>
                  <a:srgbClr val="0D9488"/>
                </a:solidFill>
              </a:rPr>
              <a:t>▸  </a:t>
            </a:r>
            <a:r>
              <a:rPr lang="tr-TR" sz="1100" dirty="0">
                <a:solidFill>
                  <a:schemeClr val="bg1"/>
                </a:solidFill>
              </a:rPr>
              <a:t>Tutarsızlık (</a:t>
            </a:r>
            <a:r>
              <a:rPr lang="tr-TR" sz="1100" dirty="0" err="1">
                <a:solidFill>
                  <a:schemeClr val="bg1"/>
                </a:solidFill>
              </a:rPr>
              <a:t>Inconsistency</a:t>
            </a:r>
            <a:r>
              <a:rPr lang="tr-TR" sz="1100" dirty="0">
                <a:solidFill>
                  <a:schemeClr val="bg1"/>
                </a:solidFill>
              </a:rPr>
              <a:t>) Tespiti ≥ %85 </a:t>
            </a:r>
          </a:p>
        </p:txBody>
      </p:sp>
      <p:sp>
        <p:nvSpPr>
          <p:cNvPr id="12" name="Text 10"/>
          <p:cNvSpPr/>
          <p:nvPr/>
        </p:nvSpPr>
        <p:spPr>
          <a:xfrm>
            <a:off x="292608" y="2249424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sz="1100" b="1" dirty="0">
                <a:solidFill>
                  <a:srgbClr val="0D9488"/>
                </a:solidFill>
              </a:rPr>
              <a:t>▸  </a:t>
            </a:r>
            <a:r>
              <a:rPr lang="tr-TR" sz="1100" dirty="0">
                <a:solidFill>
                  <a:schemeClr val="bg1"/>
                </a:solidFill>
              </a:rPr>
              <a:t>Test Edilebilirlik (</a:t>
            </a:r>
            <a:r>
              <a:rPr lang="tr-TR" sz="1100" dirty="0" err="1">
                <a:solidFill>
                  <a:schemeClr val="bg1"/>
                </a:solidFill>
              </a:rPr>
              <a:t>Testability</a:t>
            </a:r>
            <a:r>
              <a:rPr lang="tr-TR" sz="1100" dirty="0">
                <a:solidFill>
                  <a:schemeClr val="bg1"/>
                </a:solidFill>
              </a:rPr>
              <a:t>) Değerlendirmesi ≥ %80 </a:t>
            </a:r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297680" cy="1737360"/>
          </a:xfrm>
          <a:prstGeom prst="rect">
            <a:avLst/>
          </a:prstGeom>
          <a:solidFill>
            <a:srgbClr val="1A2E44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05840"/>
            <a:ext cx="4297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115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⚡  Performans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73168" y="1554480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sz="1100" b="1" dirty="0">
                <a:solidFill>
                  <a:srgbClr val="F59E0B"/>
                </a:solidFill>
              </a:rPr>
              <a:t>▸  </a:t>
            </a:r>
            <a:r>
              <a:rPr lang="tr-TR" sz="1100" dirty="0">
                <a:solidFill>
                  <a:schemeClr val="bg1"/>
                </a:solidFill>
              </a:rPr>
              <a:t>İşleme Süresi &lt; 1–2 </a:t>
            </a:r>
            <a:r>
              <a:rPr lang="tr-TR" sz="1100" dirty="0" err="1">
                <a:solidFill>
                  <a:schemeClr val="bg1"/>
                </a:solidFill>
              </a:rPr>
              <a:t>sn</a:t>
            </a:r>
            <a:r>
              <a:rPr lang="tr-TR" sz="1100" dirty="0">
                <a:solidFill>
                  <a:schemeClr val="bg1"/>
                </a:solidFill>
              </a:rPr>
              <a:t> / sayfa </a:t>
            </a:r>
          </a:p>
        </p:txBody>
      </p:sp>
      <p:sp>
        <p:nvSpPr>
          <p:cNvPr id="17" name="Text 15"/>
          <p:cNvSpPr/>
          <p:nvPr/>
        </p:nvSpPr>
        <p:spPr>
          <a:xfrm>
            <a:off x="4773168" y="1901952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59E0B"/>
                </a:solidFill>
              </a:rPr>
              <a:t>▸  </a:t>
            </a:r>
            <a:r>
              <a:rPr lang="tr-TR" sz="1100" dirty="0" err="1" smtClean="0">
                <a:solidFill>
                  <a:schemeClr val="bg1"/>
                </a:solidFill>
              </a:rPr>
              <a:t>Faithfulness</a:t>
            </a:r>
            <a:r>
              <a:rPr lang="tr-TR" sz="1100" dirty="0" smtClean="0">
                <a:solidFill>
                  <a:schemeClr val="bg1"/>
                </a:solidFill>
              </a:rPr>
              <a:t> </a:t>
            </a:r>
            <a:r>
              <a:rPr lang="tr-TR" sz="1100" dirty="0">
                <a:solidFill>
                  <a:schemeClr val="bg1"/>
                </a:solidFill>
              </a:rPr>
              <a:t>≥ %85 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73168" y="2249424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sz="1100" b="1" dirty="0">
                <a:solidFill>
                  <a:srgbClr val="F59E0B"/>
                </a:solidFill>
              </a:rPr>
              <a:t>▸  </a:t>
            </a:r>
            <a:r>
              <a:rPr lang="tr-TR" sz="1100" dirty="0">
                <a:solidFill>
                  <a:schemeClr val="bg1"/>
                </a:solidFill>
              </a:rPr>
              <a:t>Halüsinasyon Oranı &lt; %15 </a:t>
            </a:r>
          </a:p>
        </p:txBody>
      </p:sp>
      <p:sp>
        <p:nvSpPr>
          <p:cNvPr id="19" name="Shape 17"/>
          <p:cNvSpPr/>
          <p:nvPr/>
        </p:nvSpPr>
        <p:spPr>
          <a:xfrm>
            <a:off x="182880" y="2926080"/>
            <a:ext cx="4297680" cy="1737360"/>
          </a:xfrm>
          <a:prstGeom prst="rect">
            <a:avLst/>
          </a:prstGeom>
          <a:solidFill>
            <a:srgbClr val="1A2E44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2926080"/>
            <a:ext cx="42976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0358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</a:rPr>
              <a:t>👤  Kullanıcı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2608" y="3474720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sz="1100" b="1" dirty="0">
                <a:solidFill>
                  <a:srgbClr val="22C55E"/>
                </a:solidFill>
              </a:rPr>
              <a:t>▸  </a:t>
            </a:r>
            <a:r>
              <a:rPr lang="tr-TR" sz="1100" dirty="0">
                <a:solidFill>
                  <a:schemeClr val="bg1"/>
                </a:solidFill>
              </a:rPr>
              <a:t>Kullanıcı Memnuniyeti ≥ 4/5 </a:t>
            </a:r>
          </a:p>
        </p:txBody>
      </p:sp>
      <p:sp>
        <p:nvSpPr>
          <p:cNvPr id="23" name="Text 21"/>
          <p:cNvSpPr/>
          <p:nvPr/>
        </p:nvSpPr>
        <p:spPr>
          <a:xfrm>
            <a:off x="292608" y="3822192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22C55E"/>
                </a:solidFill>
              </a:rPr>
              <a:t>▸   </a:t>
            </a:r>
            <a:r>
              <a:rPr lang="en-US" sz="1100" dirty="0">
                <a:solidFill>
                  <a:srgbClr val="E8F4F8"/>
                </a:solidFill>
              </a:rPr>
              <a:t>≤ </a:t>
            </a:r>
            <a:r>
              <a:rPr lang="tr-TR" sz="1100" dirty="0" smtClean="0">
                <a:solidFill>
                  <a:srgbClr val="E8F4F8"/>
                </a:solidFill>
              </a:rPr>
              <a:t>4</a:t>
            </a:r>
            <a:r>
              <a:rPr lang="en-US" sz="1100" dirty="0" smtClean="0">
                <a:solidFill>
                  <a:srgbClr val="E8F4F8"/>
                </a:solidFill>
              </a:rPr>
              <a:t> </a:t>
            </a:r>
            <a:r>
              <a:rPr lang="en-US" sz="1100" dirty="0" err="1">
                <a:solidFill>
                  <a:srgbClr val="E8F4F8"/>
                </a:solidFill>
              </a:rPr>
              <a:t>tıklama</a:t>
            </a:r>
            <a:r>
              <a:rPr lang="en-US" sz="1100" dirty="0">
                <a:solidFill>
                  <a:srgbClr val="E8F4F8"/>
                </a:solidFill>
              </a:rPr>
              <a:t> </a:t>
            </a:r>
            <a:r>
              <a:rPr lang="en-US" sz="1100" dirty="0" err="1">
                <a:solidFill>
                  <a:srgbClr val="E8F4F8"/>
                </a:solidFill>
              </a:rPr>
              <a:t>ile</a:t>
            </a:r>
            <a:r>
              <a:rPr lang="en-US" sz="1100" dirty="0">
                <a:solidFill>
                  <a:srgbClr val="E8F4F8"/>
                </a:solidFill>
              </a:rPr>
              <a:t> </a:t>
            </a:r>
            <a:r>
              <a:rPr lang="en-US" sz="1100" dirty="0" err="1">
                <a:solidFill>
                  <a:srgbClr val="E8F4F8"/>
                </a:solidFill>
              </a:rPr>
              <a:t>rapor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2608" y="4169664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926080"/>
            <a:ext cx="4297680" cy="1737360"/>
          </a:xfrm>
          <a:prstGeom prst="rect">
            <a:avLst/>
          </a:prstGeom>
          <a:solidFill>
            <a:srgbClr val="1A2E44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926080"/>
            <a:ext cx="429768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0358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</a:rPr>
              <a:t>📊  İş Hedefleri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73168" y="3474720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</a:rPr>
              <a:t>▸  </a:t>
            </a:r>
            <a:r>
              <a:rPr lang="tr-TR" sz="1100" dirty="0" smtClean="0">
                <a:solidFill>
                  <a:srgbClr val="E8F4F8"/>
                </a:solidFill>
              </a:rPr>
              <a:t>Türkçe SRS dokümanlarını analiz etme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73168" y="3822192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</a:rPr>
              <a:t>▸  </a:t>
            </a:r>
            <a:r>
              <a:rPr lang="tr-TR" sz="1100" dirty="0" smtClean="0">
                <a:solidFill>
                  <a:srgbClr val="E8F4F8"/>
                </a:solidFill>
              </a:rPr>
              <a:t>PDF formatında SRS dokümanları desteklenir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73168" y="4169664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2600" b="1" dirty="0" err="1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Arayüz</a:t>
            </a:r>
            <a:r>
              <a:rPr lang="tr-TR" sz="2600" b="1" dirty="0" smtClean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Tasarımı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Streamlit Dashboard — 3 tıklama ile analiz raporuna ulaş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8778240" cy="4046220"/>
          </a:xfrm>
          <a:prstGeom prst="rect">
            <a:avLst/>
          </a:prstGeom>
          <a:solidFill>
            <a:srgbClr val="1A2E4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51560"/>
            <a:ext cx="8686800" cy="389541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675120" y="1051560"/>
            <a:ext cx="2148840" cy="64008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675120" y="1051560"/>
            <a:ext cx="21488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Usability NFR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≤ 3 tıklama ✅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128016"/>
            <a:ext cx="8686800" cy="481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132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Teşekkürler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3200400" y="2029968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76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4B8A6"/>
                </a:solidFill>
              </a:rPr>
              <a:t>RE-Smart: RAG Tabanlı SRS Analiz Motoru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35204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D30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5204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</a:rPr>
              <a:t>PyMuPDF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83080" y="35204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D30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35204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</a:rPr>
              <a:t>LangChain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35204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D30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5204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</a:rPr>
              <a:t>Groq Llama-3.3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35204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D30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35204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</a:rPr>
              <a:t>Qdrant Cloud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35204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D30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35204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</a:rPr>
              <a:t>Streamlit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452360" y="35204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D30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52360" y="35204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</a:rPr>
              <a:t>all-MiniLM-L6-v2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Checkpoint 2  •  Sprint 2  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1064</Words>
  <Application>Microsoft Office PowerPoint</Application>
  <PresentationFormat>Ekran Gösterisi (16:9)</PresentationFormat>
  <Paragraphs>209</Paragraphs>
  <Slides>16</Slides>
  <Notes>16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20" baseType="lpstr">
      <vt:lpstr>Arial</vt:lpstr>
      <vt:lpstr>Arial Black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RE-Smart: RAG Tabanlı SRS Analiz Sistemi</dc:title>
  <dc:subject>PptxGenJS Presentation</dc:subject>
  <dc:creator>RE-Smart Team</dc:creator>
  <cp:lastModifiedBy>Microsoft hesabı</cp:lastModifiedBy>
  <cp:revision>35</cp:revision>
  <dcterms:created xsi:type="dcterms:W3CDTF">2026-04-01T20:08:09Z</dcterms:created>
  <dcterms:modified xsi:type="dcterms:W3CDTF">2026-04-02T07:22:21Z</dcterms:modified>
</cp:coreProperties>
</file>